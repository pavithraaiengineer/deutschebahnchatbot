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2194560" cy="310896"/>
          </a:xfrm>
          <a:prstGeom prst="round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chemeClr val="bg1"/>
                </a:solidFill>
                <a:latin typeface="Aptos"/>
              </a:rPr>
              <a:t>AI CUSTOMER SUPPORT · 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76656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dirty="0" err="1">
                <a:solidFill>
                  <a:srgbClr val="FF0000"/>
                </a:solidFill>
                <a:latin typeface="Aptos"/>
              </a:rPr>
              <a:t>D</a:t>
            </a:r>
            <a:r>
              <a:rPr sz="4600" b="1" dirty="0" err="1">
                <a:solidFill>
                  <a:srgbClr val="18181C"/>
                </a:solidFill>
                <a:latin typeface="Aptos"/>
              </a:rPr>
              <a:t>e</a:t>
            </a:r>
            <a:r>
              <a:rPr sz="4600" b="1" dirty="0" err="1">
                <a:solidFill>
                  <a:srgbClr val="FF0000"/>
                </a:solidFill>
                <a:latin typeface="Aptos"/>
              </a:rPr>
              <a:t>B</a:t>
            </a:r>
            <a:r>
              <a:rPr sz="4600" b="1" dirty="0" err="1">
                <a:solidFill>
                  <a:srgbClr val="18181C"/>
                </a:solidFill>
                <a:latin typeface="Aptos"/>
              </a:rPr>
              <a:t>ian</a:t>
            </a:r>
            <a:endParaRPr sz="4600" b="1" dirty="0">
              <a:solidFill>
                <a:srgbClr val="18181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60320" y="12344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30613"/>
                </a:solidFill>
                <a:latin typeface="Aptos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630936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50545E"/>
                </a:solidFill>
                <a:latin typeface="Aptos"/>
              </a:rPr>
              <a:t>Your Deutsche Bahn Assistant for Agent Analytics, Booking, delay support, compensation claims and human in the loop (HITL)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1783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8986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545E"/>
                </a:solidFill>
                <a:latin typeface="Aptos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1" y="3172969"/>
            <a:ext cx="12801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30613"/>
                </a:solidFill>
                <a:latin typeface="Aptos"/>
              </a:rPr>
              <a:t>7 min + 2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78892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28986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545E"/>
                </a:solidFill>
                <a:latin typeface="Aptos"/>
              </a:rPr>
              <a:t>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72968"/>
            <a:ext cx="1645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E30613"/>
                </a:solidFill>
                <a:latin typeface="Aptos"/>
              </a:rPr>
              <a:t>Agent +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78892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89864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545E"/>
                </a:solidFill>
                <a:latin typeface="Aptos"/>
              </a:rPr>
              <a:t>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172968"/>
            <a:ext cx="1645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30613"/>
                </a:solidFill>
                <a:latin typeface="Aptos"/>
              </a:rPr>
              <a:t>GCP-ready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777240"/>
            <a:ext cx="4023360" cy="5029200"/>
          </a:xfrm>
          <a:prstGeom prst="roundRect">
            <a:avLst/>
          </a:prstGeom>
          <a:solidFill>
            <a:srgbClr val="17171C"/>
          </a:solidFill>
          <a:ln>
            <a:solidFill>
              <a:srgbClr val="46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114300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0545E"/>
                </a:solidFill>
                <a:latin typeface="Aptos"/>
              </a:rPr>
              <a:t>DeBian 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00200"/>
            <a:ext cx="3200400" cy="420624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Claim compensation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240280"/>
            <a:ext cx="32004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2240280"/>
            <a:ext cx="73152" cy="132588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238658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8181C"/>
                </a:solidFill>
                <a:latin typeface="Aptos"/>
              </a:rPr>
              <a:t>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752344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0545E"/>
                </a:solidFill>
                <a:latin typeface="Aptos"/>
              </a:rPr>
              <a:t>Status for ICE 999: delayed.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0545E"/>
                </a:solidFill>
                <a:latin typeface="Aptos"/>
              </a:rPr>
              <a:t>Delay: approximately 140 minutes.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0545E"/>
                </a:solidFill>
                <a:latin typeface="Aptos"/>
              </a:rPr>
              <a:t>You may be eligible for compensation.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3794760"/>
            <a:ext cx="32004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26679" y="3794760"/>
            <a:ext cx="73152" cy="1051560"/>
          </a:xfrm>
          <a:prstGeom prst="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27848" y="394106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8181C"/>
                </a:solidFill>
                <a:latin typeface="Aptos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4306824"/>
            <a:ext cx="28803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0545E"/>
                </a:solidFill>
                <a:latin typeface="Aptos"/>
              </a:rPr>
              <a:t>IBAN masked: ******************3000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80760"/>
            <a:ext cx="7132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Pavithra Rani · AI Engineer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DB8C94-57E2-4436-F9A6-C3EB1275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7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Hook +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A customer-support assistant that converts disruption into a guided, secure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34440"/>
            <a:ext cx="27432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1234440"/>
            <a:ext cx="73152" cy="13258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13807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1746504"/>
            <a:ext cx="242316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dirty="0">
                <a:solidFill>
                  <a:srgbClr val="50545E"/>
                </a:solidFill>
                <a:latin typeface="Aptos"/>
              </a:rPr>
              <a:t>Rail passengers need quick answers during delays. Support teams receive repetitive compensation and route questions. Sensitive data must be handled carefully.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234440"/>
            <a:ext cx="27432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0" y="1234440"/>
            <a:ext cx="73152" cy="132588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7" y="13807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1746504"/>
            <a:ext cx="242316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50545E"/>
                </a:solidFill>
                <a:latin typeface="Aptos"/>
              </a:rPr>
              <a:t>DeBian</a:t>
            </a:r>
            <a:r>
              <a:rPr sz="1050" dirty="0">
                <a:solidFill>
                  <a:srgbClr val="50545E"/>
                </a:solidFill>
                <a:latin typeface="Aptos"/>
              </a:rPr>
              <a:t> guides users through delay checks, compensation claims, alternative travel and human escalation, occupancy status using an agentic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234440"/>
            <a:ext cx="27432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1234440"/>
            <a:ext cx="73152" cy="132588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7688" y="13807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1746504"/>
            <a:ext cx="24231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Reduces support friction, structures claims, protects PII and creates analytics/evaluation traces for continuous improvement.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1234440"/>
            <a:ext cx="21488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18320" y="1234440"/>
            <a:ext cx="73152" cy="1325880"/>
          </a:xfrm>
          <a:prstGeom prst="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19488" y="1380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Demo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1746504"/>
            <a:ext cx="1828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ICE 572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95 min delay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€80 ticket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25% = €20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29718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81C"/>
                </a:solidFill>
                <a:latin typeface="Aptos"/>
              </a:rPr>
              <a:t>What is implemented in the MVP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3483864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3429000"/>
            <a:ext cx="4462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FastAPI backend endpoints: chat, delay, claim, human assistance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3813048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7" y="3758184"/>
            <a:ext cx="4462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Guided frontend flow for compensation claims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4142231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7" y="4087368"/>
            <a:ext cx="4462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PII masking: account/IBAN never displayed fully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4471416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" y="4416552"/>
            <a:ext cx="44622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Mock delay lookup for stable demo scenarios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29718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81C"/>
                </a:solidFill>
                <a:latin typeface="Aptos"/>
              </a:rPr>
              <a:t>Production-ready design direction</a:t>
            </a:r>
          </a:p>
        </p:txBody>
      </p:sp>
      <p:sp>
        <p:nvSpPr>
          <p:cNvPr id="40" name="Oval 39"/>
          <p:cNvSpPr/>
          <p:nvPr/>
        </p:nvSpPr>
        <p:spPr>
          <a:xfrm>
            <a:off x="5623560" y="3483864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24728" y="3429000"/>
            <a:ext cx="54681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0545E"/>
                </a:solidFill>
                <a:latin typeface="Aptos"/>
              </a:rPr>
              <a:t>LangChain</a:t>
            </a:r>
            <a:r>
              <a:rPr sz="1100" b="0" dirty="0">
                <a:solidFill>
                  <a:srgbClr val="50545E"/>
                </a:solidFill>
                <a:latin typeface="Aptos"/>
              </a:rPr>
              <a:t> orchestration and MCP-like tools</a:t>
            </a:r>
          </a:p>
        </p:txBody>
      </p:sp>
      <p:sp>
        <p:nvSpPr>
          <p:cNvPr id="42" name="Oval 41"/>
          <p:cNvSpPr/>
          <p:nvPr/>
        </p:nvSpPr>
        <p:spPr>
          <a:xfrm>
            <a:off x="5623560" y="3813048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24728" y="3758184"/>
            <a:ext cx="546811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0545E"/>
                </a:solidFill>
                <a:latin typeface="Aptos"/>
              </a:rPr>
              <a:t>RAG with Pinecone vector database and metadata filters</a:t>
            </a:r>
          </a:p>
        </p:txBody>
      </p:sp>
      <p:sp>
        <p:nvSpPr>
          <p:cNvPr id="44" name="Oval 43"/>
          <p:cNvSpPr/>
          <p:nvPr/>
        </p:nvSpPr>
        <p:spPr>
          <a:xfrm>
            <a:off x="5623560" y="4142231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824728" y="4087368"/>
            <a:ext cx="5468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Databricks-style Bronze/Silver/Gold data layer</a:t>
            </a:r>
          </a:p>
        </p:txBody>
      </p:sp>
      <p:sp>
        <p:nvSpPr>
          <p:cNvPr id="46" name="Oval 45"/>
          <p:cNvSpPr/>
          <p:nvPr/>
        </p:nvSpPr>
        <p:spPr>
          <a:xfrm>
            <a:off x="5623560" y="4471416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24728" y="4416552"/>
            <a:ext cx="5468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GKE/Terraform deployment architecture and observability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End-to-End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The assistant does not just answer — it guides the passenger to the next safe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Walk through one complete user journey and point out where AI, tools and governance fit.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463040"/>
            <a:ext cx="18288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463040"/>
            <a:ext cx="73152" cy="18288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60934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1.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975104"/>
            <a:ext cx="1508760" cy="55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dirty="0">
                <a:solidFill>
                  <a:srgbClr val="50545E"/>
                </a:solidFill>
                <a:latin typeface="Aptos"/>
              </a:rPr>
              <a:t>Text · voice · image. Document processing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50545E"/>
                </a:solidFill>
                <a:latin typeface="Aptos"/>
              </a:rPr>
              <a:t>multilingual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2377440"/>
            <a:ext cx="27432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88920" y="1463040"/>
            <a:ext cx="18288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88920" y="1463040"/>
            <a:ext cx="73152" cy="182880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90088" y="160934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2.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1975104"/>
            <a:ext cx="1508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Delay? claim? route?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human handoff?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63440" y="2377440"/>
            <a:ext cx="27432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0" y="1463040"/>
            <a:ext cx="18288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0" y="1463040"/>
            <a:ext cx="73152" cy="1828800"/>
          </a:xfrm>
          <a:prstGeom prst="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30368" y="160934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3. Tool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1975104"/>
            <a:ext cx="1508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Delay lookup · claim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route · handoff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03720" y="2377440"/>
            <a:ext cx="27432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69480" y="1463040"/>
            <a:ext cx="18288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69480" y="1463040"/>
            <a:ext cx="73152" cy="182880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70648" y="160934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4. Secure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1975104"/>
            <a:ext cx="1508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PII masked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LLM/fallback 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0" y="2377440"/>
            <a:ext cx="27432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09760" y="1463040"/>
            <a:ext cx="18288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09760" y="1463040"/>
            <a:ext cx="73152" cy="1828800"/>
          </a:xfrm>
          <a:prstGeom prst="rect">
            <a:avLst/>
          </a:prstGeom>
          <a:solidFill>
            <a:srgbClr val="98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10928" y="160934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5. Learning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1975104"/>
            <a:ext cx="1508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Analytics + eval logs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quality improvement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3977639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81C"/>
                </a:solidFill>
                <a:latin typeface="Aptos"/>
              </a:rPr>
              <a:t>Example demo path</a:t>
            </a:r>
          </a:p>
        </p:txBody>
      </p:sp>
      <p:sp>
        <p:nvSpPr>
          <p:cNvPr id="39" name="Oval 38"/>
          <p:cNvSpPr/>
          <p:nvPr/>
        </p:nvSpPr>
        <p:spPr>
          <a:xfrm>
            <a:off x="731520" y="4462272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2688" y="4407408"/>
            <a:ext cx="5010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Passenger selects “Claim compensation”</a:t>
            </a:r>
          </a:p>
        </p:txBody>
      </p:sp>
      <p:sp>
        <p:nvSpPr>
          <p:cNvPr id="41" name="Oval 40"/>
          <p:cNvSpPr/>
          <p:nvPr/>
        </p:nvSpPr>
        <p:spPr>
          <a:xfrm>
            <a:off x="731520" y="4791456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4736592"/>
            <a:ext cx="5010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DeBian asks for train, station, planned/actual time, delay, ticket price</a:t>
            </a:r>
          </a:p>
        </p:txBody>
      </p:sp>
      <p:sp>
        <p:nvSpPr>
          <p:cNvPr id="43" name="Oval 42"/>
          <p:cNvSpPr/>
          <p:nvPr/>
        </p:nvSpPr>
        <p:spPr>
          <a:xfrm>
            <a:off x="731520" y="5120640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2688" y="5065776"/>
            <a:ext cx="5010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Claim is submitted and account number is masked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3886200"/>
            <a:ext cx="49377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09360" y="3886200"/>
            <a:ext cx="73152" cy="141732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0528" y="4032504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Business outcome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4398264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The conversation becomes a structured claim object that can be routed to backend systems, analytics and human support if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Architecture of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Agentic customer support with RAG, tools, evaluation and GCP-ready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Explain this as three layers: experience, intelligence, data/platform.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234440"/>
            <a:ext cx="201168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1234440"/>
            <a:ext cx="73152" cy="4069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13807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Experience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746504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Web/Mobile UI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Text input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Voice placeholder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Image placeholder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Multilingual 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1234440"/>
            <a:ext cx="224028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0" y="1234440"/>
            <a:ext cx="73152" cy="406908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44368" y="1380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AI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1746504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Intent classifier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LLM response layer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RAG retrieval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MCP-like tool registry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Streaming endpoint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234440"/>
            <a:ext cx="224028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03520" y="1234440"/>
            <a:ext cx="73152" cy="4069080"/>
          </a:xfrm>
          <a:prstGeom prst="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13807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Business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1746504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Delay lookup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Compensation rules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Route alternatives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Human handoff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PII masking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1234440"/>
            <a:ext cx="201168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0" y="1234440"/>
            <a:ext cx="73152" cy="406908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65008" y="13807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Data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1746504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Cloud Storage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Databricks ETL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BigQuery analytics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Pinecone vector DB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45E"/>
                </a:solidFill>
                <a:latin typeface="Aptos"/>
              </a:rPr>
              <a:t>Feature Store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1234440"/>
            <a:ext cx="160020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49840" y="1234440"/>
            <a:ext cx="73152" cy="4069080"/>
          </a:xfrm>
          <a:prstGeom prst="rect">
            <a:avLst/>
          </a:prstGeom>
          <a:solidFill>
            <a:srgbClr val="98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8" y="13807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8" y="1746504"/>
            <a:ext cx="1280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Docker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GKE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Terraform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Secret Manager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50545E"/>
                </a:solidFill>
                <a:latin typeface="Aptos"/>
              </a:rPr>
              <a:t>Monitoring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87168" y="3246120"/>
            <a:ext cx="22860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74920" y="3246120"/>
            <a:ext cx="22860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35240" y="3246120"/>
            <a:ext cx="22860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12680" y="3246120"/>
            <a:ext cx="22860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55321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0545E"/>
                </a:solidFill>
                <a:latin typeface="Aptos"/>
              </a:rPr>
              <a:t>Design principle: separate the conversation layer from tools and data so each part can be evaluated, secured and scaled independently.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Dataset +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From raw rail/support data to features and retrievable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Show that the data layer is designed like a production lakehouse, even if the demo uses mock/local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43000"/>
            <a:ext cx="32918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143000"/>
            <a:ext cx="73152" cy="1874519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28930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181C"/>
                </a:solidFill>
                <a:latin typeface="Aptos"/>
              </a:rP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655064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Raw DB open data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GTFS / delay logs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Uploaded images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Support documents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86200" y="2057400"/>
            <a:ext cx="27432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43400" y="1143000"/>
            <a:ext cx="32918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1143000"/>
            <a:ext cx="73152" cy="1874519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4568" y="128930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181C"/>
                </a:solidFill>
                <a:latin typeface="Aptos"/>
              </a:rPr>
              <a:t>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1655064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Cleaned schedules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Station data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Delay events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Passenger-rights docs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0960" y="2057400"/>
            <a:ext cx="274319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60" y="1143000"/>
            <a:ext cx="32918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1143000"/>
            <a:ext cx="73152" cy="1874519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128930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181C"/>
                </a:solidFill>
                <a:latin typeface="Aptos"/>
              </a:rPr>
              <a:t>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1655064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Eligibility table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Route recommendations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Support analytics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Delay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4290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81C"/>
                </a:solidFill>
                <a:latin typeface="Aptos"/>
              </a:rPr>
              <a:t>Feature Store columns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387705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3822191"/>
            <a:ext cx="354787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train_number, route_id, station_id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4206240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4151376"/>
            <a:ext cx="354787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planned_departure_time, weekday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4535423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4480559"/>
            <a:ext cx="354787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historical_delay_minutes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4864607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4809744"/>
            <a:ext cx="354787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weather_signal, congestion score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" y="5193791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138927"/>
            <a:ext cx="354787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cancellation_flag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34290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81C"/>
                </a:solidFill>
                <a:latin typeface="Aptos"/>
              </a:rPr>
              <a:t>RAG document types</a:t>
            </a:r>
          </a:p>
        </p:txBody>
      </p:sp>
      <p:sp>
        <p:nvSpPr>
          <p:cNvPr id="40" name="Oval 39"/>
          <p:cNvSpPr/>
          <p:nvPr/>
        </p:nvSpPr>
        <p:spPr>
          <a:xfrm>
            <a:off x="4663440" y="3877055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64607" y="3822191"/>
            <a:ext cx="32735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Passenger-rights policy</a:t>
            </a:r>
          </a:p>
        </p:txBody>
      </p:sp>
      <p:sp>
        <p:nvSpPr>
          <p:cNvPr id="42" name="Oval 41"/>
          <p:cNvSpPr/>
          <p:nvPr/>
        </p:nvSpPr>
        <p:spPr>
          <a:xfrm>
            <a:off x="4663440" y="4206240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64607" y="4151376"/>
            <a:ext cx="32735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Compensation rules</a:t>
            </a:r>
          </a:p>
        </p:txBody>
      </p:sp>
      <p:sp>
        <p:nvSpPr>
          <p:cNvPr id="44" name="Oval 43"/>
          <p:cNvSpPr/>
          <p:nvPr/>
        </p:nvSpPr>
        <p:spPr>
          <a:xfrm>
            <a:off x="4663440" y="4535423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64607" y="4480559"/>
            <a:ext cx="32735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Station FAQs</a:t>
            </a:r>
          </a:p>
        </p:txBody>
      </p:sp>
      <p:sp>
        <p:nvSpPr>
          <p:cNvPr id="46" name="Oval 45"/>
          <p:cNvSpPr/>
          <p:nvPr/>
        </p:nvSpPr>
        <p:spPr>
          <a:xfrm>
            <a:off x="4663440" y="4864607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64607" y="4809744"/>
            <a:ext cx="32735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Ticket refund instructions</a:t>
            </a:r>
          </a:p>
        </p:txBody>
      </p:sp>
      <p:sp>
        <p:nvSpPr>
          <p:cNvPr id="48" name="Oval 47"/>
          <p:cNvSpPr/>
          <p:nvPr/>
        </p:nvSpPr>
        <p:spPr>
          <a:xfrm>
            <a:off x="4663440" y="5193791"/>
            <a:ext cx="91440" cy="91440"/>
          </a:xfrm>
          <a:prstGeom prst="ellipse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64607" y="5138927"/>
            <a:ext cx="327355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Internal SOPs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429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81C"/>
                </a:solidFill>
                <a:latin typeface="Aptos"/>
              </a:rPr>
              <a:t>Metadata filters</a:t>
            </a:r>
          </a:p>
        </p:txBody>
      </p:sp>
      <p:sp>
        <p:nvSpPr>
          <p:cNvPr id="51" name="Oval 50"/>
          <p:cNvSpPr/>
          <p:nvPr/>
        </p:nvSpPr>
        <p:spPr>
          <a:xfrm>
            <a:off x="8458200" y="3877055"/>
            <a:ext cx="91440" cy="91440"/>
          </a:xfrm>
          <a:prstGeom prst="ellipse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59368" y="3822191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language = de / en</a:t>
            </a:r>
          </a:p>
        </p:txBody>
      </p:sp>
      <p:sp>
        <p:nvSpPr>
          <p:cNvPr id="53" name="Oval 52"/>
          <p:cNvSpPr/>
          <p:nvPr/>
        </p:nvSpPr>
        <p:spPr>
          <a:xfrm>
            <a:off x="8458200" y="4206240"/>
            <a:ext cx="91440" cy="91440"/>
          </a:xfrm>
          <a:prstGeom prst="ellipse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59368" y="4151376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document_type</a:t>
            </a:r>
          </a:p>
        </p:txBody>
      </p:sp>
      <p:sp>
        <p:nvSpPr>
          <p:cNvPr id="55" name="Oval 54"/>
          <p:cNvSpPr/>
          <p:nvPr/>
        </p:nvSpPr>
        <p:spPr>
          <a:xfrm>
            <a:off x="8458200" y="4535423"/>
            <a:ext cx="91440" cy="91440"/>
          </a:xfrm>
          <a:prstGeom prst="ellipse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59368" y="4480559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region = Germany</a:t>
            </a:r>
          </a:p>
        </p:txBody>
      </p:sp>
      <p:sp>
        <p:nvSpPr>
          <p:cNvPr id="57" name="Oval 56"/>
          <p:cNvSpPr/>
          <p:nvPr/>
        </p:nvSpPr>
        <p:spPr>
          <a:xfrm>
            <a:off x="8458200" y="4864607"/>
            <a:ext cx="91440" cy="91440"/>
          </a:xfrm>
          <a:prstGeom prst="ellipse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59368" y="4809744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valid_from / valid_to</a:t>
            </a:r>
          </a:p>
        </p:txBody>
      </p:sp>
      <p:sp>
        <p:nvSpPr>
          <p:cNvPr id="59" name="Oval 58"/>
          <p:cNvSpPr/>
          <p:nvPr/>
        </p:nvSpPr>
        <p:spPr>
          <a:xfrm>
            <a:off x="8458200" y="5193791"/>
            <a:ext cx="91440" cy="91440"/>
          </a:xfrm>
          <a:prstGeom prst="ellipse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59368" y="5138927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0545E"/>
                </a:solidFill>
                <a:latin typeface="Aptos"/>
              </a:rPr>
              <a:t>confidence_score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RAG + Vector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Grounding support answers in policy and support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Describe query optimization, chunking and metadata before talking about the LLM.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43000"/>
            <a:ext cx="30175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143000"/>
            <a:ext cx="73152" cy="141732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289304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1. Query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655064"/>
            <a:ext cx="2697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Detect language, expand synonyms and infer metadata filters such as language, document_type and region.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143000"/>
            <a:ext cx="30175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49039" y="1143000"/>
            <a:ext cx="73152" cy="141732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50207" y="1289304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2.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7" y="1655064"/>
            <a:ext cx="2697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Search vector DB for passenger-rights, refund, station FAQ and SOP chunks. Local fallback keeps demo stable.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143000"/>
            <a:ext cx="30175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49440" y="1143000"/>
            <a:ext cx="73152" cy="1417320"/>
          </a:xfrm>
          <a:prstGeom prst="rect">
            <a:avLst/>
          </a:prstGeom>
          <a:solidFill>
            <a:srgbClr val="98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50607" y="1289304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3. Grounded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7" y="1655064"/>
            <a:ext cx="2697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LLM receives user input + sanitized tool output + retrieved context, then returns a customer-friendly answer.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11880" y="1828800"/>
            <a:ext cx="9144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12280" y="1828800"/>
            <a:ext cx="9144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4360" y="3063240"/>
            <a:ext cx="530352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3063240"/>
            <a:ext cx="73152" cy="1920240"/>
          </a:xfrm>
          <a:prstGeom prst="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320954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Vector DB record 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3575304"/>
            <a:ext cx="4983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id: passenger_rights_en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language: en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document_type: passenger_rights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region: germany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valid_from / valid_to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confidence_score: 0.95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063240"/>
            <a:ext cx="49377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3063240"/>
            <a:ext cx="73152" cy="19202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9088" y="3209544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Why RAG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575304"/>
            <a:ext cx="4617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• Reduces hallucination risk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• Keeps policy answers maintainable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• Supports multilingual documents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• Separates data updates from application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Q&amp;A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A deterministic workflow first, LLM response layer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Emphasize that tools produce truth and the LLM improves language, not business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325880"/>
            <a:ext cx="1417320" cy="50292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Message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1572768"/>
            <a:ext cx="292608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50008" y="1325880"/>
            <a:ext cx="1417320" cy="502920"/>
          </a:xfrm>
          <a:prstGeom prst="round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13048" y="1572768"/>
            <a:ext cx="292608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97096" y="1325880"/>
            <a:ext cx="1417320" cy="502920"/>
          </a:xfrm>
          <a:prstGeom prst="round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0136" y="1572768"/>
            <a:ext cx="292608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44184" y="1325880"/>
            <a:ext cx="1417320" cy="502920"/>
          </a:xfrm>
          <a:prstGeom prst="round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Tool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07224" y="1572768"/>
            <a:ext cx="292608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891272" y="1325880"/>
            <a:ext cx="1417320" cy="502920"/>
          </a:xfrm>
          <a:prstGeom prst="roundRect">
            <a:avLst/>
          </a:prstGeom>
          <a:solidFill>
            <a:srgbClr val="98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LLM / Fallback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54312" y="1572768"/>
            <a:ext cx="292608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38360" y="1325880"/>
            <a:ext cx="1417320" cy="502920"/>
          </a:xfrm>
          <a:prstGeom prst="roundRect">
            <a:avLst/>
          </a:prstGeom>
          <a:solidFill>
            <a:srgbClr val="1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PII Mask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423160"/>
            <a:ext cx="33375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423160"/>
            <a:ext cx="73152" cy="192024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2569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Intent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2935224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delay_lookup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compensation_guidance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compensation_claim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route_alternatives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human_handoff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image / voice placeholder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2423160"/>
            <a:ext cx="33375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2423160"/>
            <a:ext cx="73152" cy="1920240"/>
          </a:xfrm>
          <a:prstGeom prst="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44568" y="2569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Tool registry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2935224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The agent routes the request to a specific tool instead of relying on free-form generation for business actions.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2423160"/>
            <a:ext cx="33375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01000" y="2423160"/>
            <a:ext cx="73152" cy="19202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2168" y="2569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Prompt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2935224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System prompt instructs: no raw JSON, use source-of-truth tool result, ask one next question, mask sensitive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920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181C"/>
                </a:solidFill>
                <a:latin typeface="Aptos"/>
              </a:rPr>
              <a:t>Key decision: deterministic tools calculate delay and compensation; the LLM only formats and explains the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Tools and Business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Each tool maps to a real customer-support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Connect every tool to a user need and a production integration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33375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1143000"/>
            <a:ext cx="73152" cy="15087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1289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Delay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1655064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Mock delay lookup now; DB Timetables API-ready mode with station + planned time.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Production: DB API / real-time feed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143000"/>
            <a:ext cx="33375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1143000"/>
            <a:ext cx="73152" cy="150876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1289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Compensation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1655064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Applies compensation rules, calculates percentage and amount, submits claim object.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Production: Claims backend / CRM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143000"/>
            <a:ext cx="33375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1143000"/>
            <a:ext cx="73152" cy="150876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93608" y="1289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Route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1655064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Suggests alternative travel options based on origin/destination.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Production: Route planner / GTFS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08960"/>
            <a:ext cx="33375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3108960"/>
            <a:ext cx="73152" cy="1508760"/>
          </a:xfrm>
          <a:prstGeom prst="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Human Handoff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621024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Queues a request for callback or service-agent support.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Production: Call center / CRM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108960"/>
            <a:ext cx="33375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3108960"/>
            <a:ext cx="73152" cy="1508760"/>
          </a:xfrm>
          <a:prstGeom prst="rect">
            <a:avLst/>
          </a:prstGeom>
          <a:solidFill>
            <a:srgbClr val="98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9884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PII Masking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3621024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Masks account/IBAN and sanitizes logs, prompts and responses.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Production: Cloud DLP / governance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108960"/>
            <a:ext cx="33375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92440" y="3108960"/>
            <a:ext cx="73152" cy="1508760"/>
          </a:xfrm>
          <a:prstGeom prst="rect">
            <a:avLst/>
          </a:prstGeom>
          <a:solidFill>
            <a:srgbClr val="1E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9360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8181C"/>
                </a:solidFill>
                <a:latin typeface="Aptos"/>
              </a:rPr>
              <a:t>Streaming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3621024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Server-sent events endpoint prepared for token-style response.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50545E"/>
                </a:solidFill>
                <a:latin typeface="Aptos"/>
              </a:rPr>
              <a:t>Production: Cloud Run / GKE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Security +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Customer-support AI must protect personal data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Focus on why a passenger support bot needs enterprise-grade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88720"/>
            <a:ext cx="274320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188720"/>
            <a:ext cx="73152" cy="14630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33502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PII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700784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IBAN/account numbers are normalized and masked. Only the last four digits are shown.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1188720"/>
            <a:ext cx="274320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6160" y="1188720"/>
            <a:ext cx="73152" cy="1463040"/>
          </a:xfrm>
          <a:prstGeom prst="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67328" y="133502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Secrets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1700784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.env locally, Secret Manager/Kubernetes Secrets in production. No keys committed.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188720"/>
            <a:ext cx="274320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0" y="1188720"/>
            <a:ext cx="73152" cy="146304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133502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Access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1700784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IAM, Kubernetes RBAC and service accounts isolate runtime permissions.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188720"/>
            <a:ext cx="219456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01200" y="1188720"/>
            <a:ext cx="73152" cy="146304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02368" y="1335024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1700784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Unity Catalog / audit logs / retention controls.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461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81C"/>
                </a:solidFill>
                <a:latin typeface="Aptos"/>
              </a:rPr>
              <a:t>Secure response lifecycle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3712463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" y="3657600"/>
            <a:ext cx="45537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User input sanitized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4041648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8408" y="3986784"/>
            <a:ext cx="45537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Tool output sanitized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" y="4370831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408" y="4315968"/>
            <a:ext cx="45537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LLM receives masked context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" y="4700016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4645152"/>
            <a:ext cx="45537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Logs store masked payloads</a:t>
            </a:r>
          </a:p>
        </p:txBody>
      </p:sp>
      <p:sp>
        <p:nvSpPr>
          <p:cNvPr id="39" name="Oval 38"/>
          <p:cNvSpPr/>
          <p:nvPr/>
        </p:nvSpPr>
        <p:spPr>
          <a:xfrm>
            <a:off x="777240" y="5029199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4974336"/>
            <a:ext cx="45537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0545E"/>
                </a:solidFill>
                <a:latin typeface="Aptos"/>
              </a:rPr>
              <a:t>Evaluation checks PII leakage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0" y="3246120"/>
            <a:ext cx="53035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852160" y="3246120"/>
            <a:ext cx="73152" cy="1691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53328" y="339242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Demo proof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3758183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Input IBAN: DE89370400440532013000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Displayed output: ******************3000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The full account number is not returned to the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Evaluation +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Quality is measured as a product capability, not as an afterthought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Explain how evaluation logs make this more than a demo chatbot.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2194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25272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545E"/>
                </a:solidFill>
                <a:latin typeface="Aptos"/>
              </a:rPr>
              <a:t>PII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527048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B57A"/>
                </a:solidFill>
                <a:latin typeface="Aptos"/>
              </a:rPr>
              <a:t>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1143000"/>
            <a:ext cx="2194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125272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545E"/>
                </a:solidFill>
                <a:latin typeface="Aptos"/>
              </a:rPr>
              <a:t>Grounding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527048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575FF"/>
                </a:solidFill>
                <a:latin typeface="Aptos"/>
              </a:rPr>
              <a:t>RAG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1143000"/>
            <a:ext cx="2194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125272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545E"/>
                </a:solidFill>
                <a:latin typeface="Aptos"/>
              </a:rPr>
              <a:t>Tool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527048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B52A"/>
                </a:solidFill>
                <a:latin typeface="Aptos"/>
              </a:rPr>
              <a:t>Intent →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143000"/>
            <a:ext cx="2194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125272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0545E"/>
                </a:solidFill>
                <a:latin typeface="Aptos"/>
              </a:rPr>
              <a:t>User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527048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30613"/>
                </a:solidFill>
                <a:latin typeface="Aptos"/>
              </a:rPr>
              <a:t>Guided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514600"/>
            <a:ext cx="51206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2514600"/>
            <a:ext cx="73152" cy="214884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266090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Evaluation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026664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• Intent classification is compared with expected flow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• PII leakage detector scans responses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• RAG context presence is tracked as a groundedness signal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• Logs are created for analytics and quality improvement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514600"/>
            <a:ext cx="51206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2514600"/>
            <a:ext cx="73152" cy="214884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3368" y="266090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Observability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026664"/>
            <a:ext cx="48006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dirty="0">
                <a:solidFill>
                  <a:srgbClr val="50545E"/>
                </a:solidFill>
                <a:latin typeface="Aptos"/>
              </a:rPr>
              <a:t>• Cloud Logging for backend events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0545E"/>
                </a:solidFill>
                <a:latin typeface="Aptos"/>
              </a:rPr>
              <a:t>• </a:t>
            </a:r>
            <a:r>
              <a:rPr sz="1100" dirty="0" err="1">
                <a:solidFill>
                  <a:srgbClr val="50545E"/>
                </a:solidFill>
                <a:latin typeface="Aptos"/>
              </a:rPr>
              <a:t>BigQuery</a:t>
            </a:r>
            <a:r>
              <a:rPr sz="1100" dirty="0">
                <a:solidFill>
                  <a:srgbClr val="50545E"/>
                </a:solidFill>
                <a:latin typeface="Aptos"/>
              </a:rPr>
              <a:t> for support analytics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0545E"/>
                </a:solidFill>
                <a:latin typeface="Aptos"/>
              </a:rPr>
              <a:t>• Grafana for service metrics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0545E"/>
                </a:solidFill>
                <a:latin typeface="Aptos"/>
              </a:rPr>
              <a:t>• Cost dashboards for LLM and vector DB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Deployment and Productionization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GCP-ready design with containerized services and Terraform-managed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Present deployment as production architecture, not necessarily something the demo depends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25603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1143000"/>
            <a:ext cx="73152" cy="15087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1289304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1655064"/>
            <a:ext cx="22402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Dockerized backend with a clear runtime entry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1143000"/>
            <a:ext cx="25603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37560" y="1143000"/>
            <a:ext cx="73152" cy="150876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8728" y="1289304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GKE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1655064"/>
            <a:ext cx="22402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API, agent, RAG, tools, human handoff and evaluation services.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143000"/>
            <a:ext cx="25603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0760" y="1143000"/>
            <a:ext cx="73152" cy="150876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1928" y="1289304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Terraform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1655064"/>
            <a:ext cx="22402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VPC, subnets, GKE, Artifact Registry, BigQuery, Cloud Storage, Secrets.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143000"/>
            <a:ext cx="25603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23960" y="1143000"/>
            <a:ext cx="73152" cy="1508760"/>
          </a:xfrm>
          <a:prstGeom prst="rect">
            <a:avLst/>
          </a:prstGeom>
          <a:solidFill>
            <a:srgbClr val="98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25128" y="1289304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1655064"/>
            <a:ext cx="22402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0545E"/>
                </a:solidFill>
                <a:latin typeface="Aptos"/>
              </a:rPr>
              <a:t>Cloud Monitoring, Logging, OpenTelemetry, cost dashboards.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657600"/>
            <a:ext cx="1600200" cy="45720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Developer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60320" y="3886200"/>
            <a:ext cx="41148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063240" y="3657600"/>
            <a:ext cx="1600200" cy="4572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09160" y="3886200"/>
            <a:ext cx="41148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212080" y="3657600"/>
            <a:ext cx="1600200" cy="457200"/>
          </a:xfrm>
          <a:prstGeom prst="round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Artifact Registry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0" y="3886200"/>
            <a:ext cx="41148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60920" y="3657600"/>
            <a:ext cx="1600200" cy="457200"/>
          </a:xfrm>
          <a:prstGeom prst="round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GKE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06840" y="3886200"/>
            <a:ext cx="411480" cy="0"/>
          </a:xfrm>
          <a:prstGeom prst="line">
            <a:avLst/>
          </a:prstGeom>
          <a:ln w="25400">
            <a:solidFill>
              <a:srgbClr val="A0A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09760" y="3657600"/>
            <a:ext cx="1600200" cy="457200"/>
          </a:xfrm>
          <a:prstGeom prst="roundRect">
            <a:avLst/>
          </a:prstGeom>
          <a:solidFill>
            <a:srgbClr val="F0B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181C"/>
                </a:solidFill>
                <a:latin typeface="Aptos"/>
              </a:rPr>
              <a:t>Deployment path: local MVP → container → GCP infrastructure → managed secrets, logging and scaling.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2-minute script with backup screenshots/test payloads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Keep the demo short: show one delay lookup and one compensation claim.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097280"/>
            <a:ext cx="34747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097280"/>
            <a:ext cx="73152" cy="42519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243584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Demo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609344"/>
            <a:ext cx="31546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1. Start backend: python -m app.main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2. Start frontend: python frontend\streamlit_app.py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3. Check Backend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4. Check delay → ICE 999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5. Claim compensation → ICE 572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6. Confirm IBAN masking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097280"/>
            <a:ext cx="338328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1097280"/>
            <a:ext cx="73152" cy="425196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44568" y="124358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Demo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1609344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Train: ICE 572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Station: Frankfurt(Main)Hbf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Planned: 2026-05-20T10:00:00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Actual: 2026-05-20T11:35:00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Delay: 95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Ticket: €80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Refund: bank_account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097280"/>
            <a:ext cx="338328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1097280"/>
            <a:ext cx="73152" cy="425196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124358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181C"/>
                </a:solidFill>
                <a:latin typeface="Aptos"/>
              </a:rPr>
              <a:t>Expected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609344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Claim submitted.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Estimated compensation: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25% = €20.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Account confirmation: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******************3000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0545E"/>
                </a:solidFill>
                <a:latin typeface="Aptos"/>
              </a:rPr>
              <a:t>Sensitive data masked.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181C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8638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0545E"/>
                </a:solidFill>
                <a:latin typeface="Aptos"/>
              </a:rPr>
              <a:t>DeBian demonstrates an enterprise-ready pattern for customer-facing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45E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914400" cy="219456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FFFFFF"/>
                </a:solidFill>
                <a:latin typeface="Aptos"/>
              </a:rP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0472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Data/RAG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Agent/Tools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Eval/Security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5742432"/>
            <a:ext cx="914400" cy="219456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>
                <a:solidFill>
                  <a:srgbClr val="50545E"/>
                </a:solidFill>
                <a:latin typeface="Aptos"/>
              </a:rPr>
              <a:t>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144768"/>
            <a:ext cx="11384280" cy="256032"/>
          </a:xfrm>
          <a:prstGeom prst="roundRect">
            <a:avLst/>
          </a:prstGeom>
          <a:solidFill>
            <a:srgbClr val="FAFAFC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830">
                <a:solidFill>
                  <a:srgbClr val="50545E"/>
                </a:solidFill>
                <a:latin typeface="Aptos"/>
              </a:rPr>
              <a:t>Talk track: End with value, not only technology.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96973"/>
                </a:solidFill>
                <a:latin typeface="Aptos"/>
              </a:rPr>
              <a:t>DeBian AI Rail Assistant | Pavithra Rani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333756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1280160"/>
            <a:ext cx="73152" cy="20116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142646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81C"/>
                </a:solidFill>
                <a:latin typeface="Aptos"/>
              </a:rPr>
              <a:t>Customer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1792224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Passengers receive structured, multilingual guidance during stressful rail disruption moments.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280160"/>
            <a:ext cx="333756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1280160"/>
            <a:ext cx="73152" cy="2011680"/>
          </a:xfrm>
          <a:prstGeom prst="rect">
            <a:avLst/>
          </a:prstGeom>
          <a:solidFill>
            <a:srgbClr val="35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7" y="142646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81C"/>
                </a:solidFill>
                <a:latin typeface="Aptos"/>
              </a:rPr>
              <a:t>Engineering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1792224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The architecture separates UI, agent, tools, data, evaluation and governance for scalable iteration.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280160"/>
            <a:ext cx="333756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280160"/>
            <a:ext cx="73152" cy="2011680"/>
          </a:xfrm>
          <a:prstGeom prst="rect">
            <a:avLst/>
          </a:prstGeom>
          <a:solidFill>
            <a:srgbClr val="2A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8" y="142646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181C"/>
                </a:solidFill>
                <a:latin typeface="Aptos"/>
              </a:rPr>
              <a:t>Business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1792224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45E"/>
                </a:solidFill>
                <a:latin typeface="Aptos"/>
              </a:rPr>
              <a:t>Support operations can reduce repetitive tasks while collecting analytics for quality improvement.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8181C"/>
                </a:solidFill>
                <a:latin typeface="Aptos"/>
              </a:rPr>
              <a:t>Next improvements: connect live DB APIs, enrich RAG documents, deploy to GKE, and add real voice/image processing.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937760"/>
            <a:ext cx="3474720" cy="50292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1903</Words>
  <Application>Microsoft Office PowerPoint</Application>
  <PresentationFormat>Widescreen</PresentationFormat>
  <Paragraphs>391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Priyadarshini Jayabalan</dc:creator>
  <cp:keywords/>
  <dc:description>generated using python-pptx</dc:description>
  <cp:lastModifiedBy>Priyadarshini Jayabalan</cp:lastModifiedBy>
  <cp:revision>2</cp:revision>
  <dcterms:created xsi:type="dcterms:W3CDTF">2013-01-27T09:14:16Z</dcterms:created>
  <dcterms:modified xsi:type="dcterms:W3CDTF">2026-05-28T15:04:36Z</dcterms:modified>
  <cp:category/>
</cp:coreProperties>
</file>